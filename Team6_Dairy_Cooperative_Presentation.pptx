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5"/>
  </p:notesMasterIdLst>
  <p:handoutMasterIdLst>
    <p:handoutMasterId r:id="rId16"/>
  </p:handoutMasterIdLst>
  <p:sldIdLst>
    <p:sldId id="258" r:id="rId3"/>
    <p:sldId id="377" r:id="rId4"/>
    <p:sldId id="391" r:id="rId5"/>
    <p:sldId id="399" r:id="rId23"/>
    <p:sldId id="400" r:id="rId24"/>
    <p:sldId id="401" r:id="rId25"/>
    <p:sldId id="402" r:id="rId26"/>
    <p:sldId id="403" r:id="rId27"/>
    <p:sldId id="404" r:id="rId28"/>
    <p:sldId id="405" r:id="rId29"/>
    <p:sldId id="406" r:id="rId30"/>
    <p:sldId id="407" r:id="rId31"/>
    <p:sldId id="408" r:id="rId32"/>
    <p:sldId id="409" r:id="rId33"/>
    <p:sldId id="410" r:id="rId34"/>
    <p:sldId id="411" r:id="rId35"/>
    <p:sldId id="412" r:id="rId36"/>
    <p:sldId id="413" r:id="rId37"/>
    <p:sldId id="414" r:id="rId38"/>
    <p:sldId id="415" r:id="rId39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79D78E-41F3-A1F4-EC04-02F424684A7A}" name="usha rani" initials="ur" userId="ac3da7c9ac03e58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18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066899-C096-4686-B300-E1D6AA42CDE9}" v="18" dt="2026-07-02T16:12:21.471"/>
    <p1510:client id="{E9B0078F-71CD-40F1-B7A0-85484F5377DB}" v="8" dt="2026-07-03T06:55:41.5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70" autoAdjust="0"/>
    <p:restoredTop sz="95033" autoAdjust="0"/>
  </p:normalViewPr>
  <p:slideViewPr>
    <p:cSldViewPr snapToGrid="0" snapToObjects="1">
      <p:cViewPr varScale="1">
        <p:scale>
          <a:sx n="40" d="100"/>
          <a:sy n="40" d="100"/>
        </p:scale>
        <p:origin x="53" y="8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0094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14" Type="http://schemas.openxmlformats.org/officeDocument/2006/relationships/slide" Target="slides/slide12.xml"/><Relationship Id="rId22" Type="http://schemas.microsoft.com/office/2018/10/relationships/authors" Target="authors.xml"/>  <Relationship Id="rId23" Type="http://schemas.openxmlformats.org/officeDocument/2006/relationships/slide" Target="slides/slide13.xml"/>
  <Relationship Id="rId24" Type="http://schemas.openxmlformats.org/officeDocument/2006/relationships/slide" Target="slides/slide14.xml"/>
  <Relationship Id="rId25" Type="http://schemas.openxmlformats.org/officeDocument/2006/relationships/slide" Target="slides/slide15.xml"/>
  <Relationship Id="rId26" Type="http://schemas.openxmlformats.org/officeDocument/2006/relationships/slide" Target="slides/slide16.xml"/>
  <Relationship Id="rId27" Type="http://schemas.openxmlformats.org/officeDocument/2006/relationships/slide" Target="slides/slide17.xml"/>
  <Relationship Id="rId28" Type="http://schemas.openxmlformats.org/officeDocument/2006/relationships/slide" Target="slides/slide18.xml"/>
  <Relationship Id="rId29" Type="http://schemas.openxmlformats.org/officeDocument/2006/relationships/slide" Target="slides/slide19.xml"/>
  <Relationship Id="rId30" Type="http://schemas.openxmlformats.org/officeDocument/2006/relationships/slide" Target="slides/slide20.xml"/>
  <Relationship Id="rId31" Type="http://schemas.openxmlformats.org/officeDocument/2006/relationships/slide" Target="slides/slide21.xml"/>
  <Relationship Id="rId32" Type="http://schemas.openxmlformats.org/officeDocument/2006/relationships/slide" Target="slides/slide22.xml"/>
  <Relationship Id="rId33" Type="http://schemas.openxmlformats.org/officeDocument/2006/relationships/slide" Target="slides/slide23.xml"/>
  <Relationship Id="rId34" Type="http://schemas.openxmlformats.org/officeDocument/2006/relationships/slide" Target="slides/slide24.xml"/>
  <Relationship Id="rId35" Type="http://schemas.openxmlformats.org/officeDocument/2006/relationships/slide" Target="slides/slide25.xml"/>
  <Relationship Id="rId36" Type="http://schemas.openxmlformats.org/officeDocument/2006/relationships/slide" Target="slides/slide26.xml"/>
  <Relationship Id="rId37" Type="http://schemas.openxmlformats.org/officeDocument/2006/relationships/slide" Target="slides/slide27.xml"/>
  <Relationship Id="rId38" Type="http://schemas.openxmlformats.org/officeDocument/2006/relationships/slide" Target="slides/slide28.xml"/>
  <Relationship Id="rId39" Type="http://schemas.openxmlformats.org/officeDocument/2006/relationships/slide" Target="slides/slide29.xml"/>
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FD0E32-84B7-61F7-BC6E-7F3D3E58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8D96D9-5F98-A44D-2018-D6A2A308A4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9F6064-4237-BA4C-A655-B64A9E0DF723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3AFF6-B32C-BF80-479E-15EDD755C5E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E1A79-2016-95C1-5829-B295A2C985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FBAABA-A336-9B4F-BB34-8D7F4005576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12229D-753E-D112-EA38-F8EB6301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16374" cy="45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5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854B6-73EE-3647-B9F0-9FDDAF047BDA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329816-4D5E-3B44-810B-F5C416F14A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5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22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71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89486-861A-2ECA-4D40-39E5F67E8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5A513-C79F-B540-0019-433BDBACF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E0A3D1-26CD-4F17-E4CA-311B4310E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467B8-2D06-EBB4-C77E-EA980BEAC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329816-4D5E-3B44-810B-F5C416F14AE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9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27E06-5BF0-54B9-FB5D-CFB52D43B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EA4E6-D507-DC8D-31AA-A4CB32D7C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99788-2E86-FADA-072C-884B0261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A504A-D052-4F2D-906E-4CCCD67E5352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D1ADA-8991-D408-DA0A-FE3B043FE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DF78D-056F-7C9E-8F10-68209462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291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DA370-C77E-4354-33A4-1D2D9DDD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FE7F8-1A57-17F5-243A-454005CCD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AE72D-6D76-FAB8-D597-99BF2087A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447009-55DF-4EA5-900B-29AFB7C8438A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0C41-C703-1443-60E7-2BEF34D36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B3600-770E-6D67-2A66-D2FECF5D3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76DCD-546C-A1AC-C961-3F3EEC504416}"/>
              </a:ext>
            </a:extLst>
          </p:cNvPr>
          <p:cNvSpPr/>
          <p:nvPr userDrawn="1"/>
        </p:nvSpPr>
        <p:spPr>
          <a:xfrm>
            <a:off x="87228" y="60325"/>
            <a:ext cx="1532022" cy="620712"/>
          </a:xfrm>
          <a:prstGeom prst="rect">
            <a:avLst/>
          </a:prstGeom>
          <a:blipFill dpi="0" rotWithShape="1">
            <a:blip r:embed="rId2">
              <a:alphaModFix amt="78101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4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5DA9-698C-D133-BCF7-93A02E210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85215-9C62-1486-DEC7-AF8E59725B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292FD-C465-3FCB-1CEB-331C31A97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8B550-430E-4E00-8584-398912EDCDA8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96C18-4538-A1F2-0B35-7684E5B30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5BEFA-16A3-B084-9011-B7E85C9C9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3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3A91F-6631-AA20-E58B-064235B6D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029CD-C8C6-CEFE-D059-40BEA2997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5D9AB-9E5E-59E2-9DA3-6C54D45EA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3C372B-55E2-4467-1C5C-88EAE7283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515C1-FC0C-48DC-AA13-5A7440F04A46}" type="datetime1">
              <a:rPr lang="en-IN" smtClean="0"/>
              <a:t>14-08-2026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0897BD-CB93-AC5A-9B15-FD7F4D952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5540F5-8BB9-4C4C-626E-5D45C97E3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253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68A3B-B4EE-2816-3ADC-193854142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AF86E-35F8-453B-F58E-48D8C490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3D8923-FBC0-8866-8350-696FB3D22B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45281-3CB5-361A-7D56-C6E37E290D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F62343-9DB8-07DC-AD19-22AE6A7E5D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EB0191-CD7B-6170-8655-A3CD1009B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4A9D0-F765-45B1-928F-556B91D2C522}" type="datetime1">
              <a:rPr lang="en-IN" smtClean="0"/>
              <a:t>14-08-2026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680C4C-B6E8-81B1-E2F5-D6264E3F6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C8B11F-5860-03B4-E71F-3467444F9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5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7A6C5-1A49-C01E-B839-45967150D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C47471-9D6F-27AE-9B05-71D6BF96E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0E6F3-7E24-4BDE-BB37-BD18A6966701}" type="datetime1">
              <a:rPr lang="en-IN" smtClean="0"/>
              <a:t>14-08-2026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AFD67-19CE-C1CD-207C-EF612C5A6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D7506-CEE9-31E5-7D10-A0BD1B2B0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88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BBBBF-B095-FC7E-61BE-572DFB7B1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113449-4DF0-4F1F-A3E4-097B1714C7C4}" type="datetime1">
              <a:rPr lang="en-IN" smtClean="0"/>
              <a:t>14-08-2026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7555D4-8ECB-AFFE-0E72-A206E4098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E9EB7F-0F36-6AF2-5A6E-D350360EF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975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F3453-54A8-457E-0F66-9BE958D91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E50AE-B8BE-E1FF-F3BA-809308221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DA6038-C8B1-F7F2-5CA8-15CFE38CB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097CAE-AF61-8AFD-5350-97D8044E1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4166F-CD67-4CEB-8DD7-1E38016562AC}" type="datetime1">
              <a:rPr lang="en-IN" smtClean="0"/>
              <a:t>14-08-2026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E989E-AF43-DFDB-D9DD-E85DED3C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BCAA9-93EB-8A4D-BB9C-2479D5935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23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CE57A-1FB8-E230-296B-702500A0D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470CF4-1245-8E91-196B-2297C07C97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C54EA7-CAD7-C04A-6487-F7D166033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31731-B315-1CCB-7EEF-B7C7EC925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8F83E-6F8A-4D66-8D97-D167DE305BE2}" type="datetime1">
              <a:rPr lang="en-IN" smtClean="0"/>
              <a:t>14-08-2026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DE31E-F8C7-4C00-C40D-FE2821B70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C9369-3918-E39E-9B60-A57179D04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63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F7F1-0136-E40C-5B0F-C1D42F6E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08B89F-EA4C-AA4F-0EB2-C715E5B0D6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AEC3-3D5C-B4D8-ADAC-C6249EB4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3A21-9775-4B2C-9B39-32116406212C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9FED2-229B-3728-C7BA-7E8D51577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B8F22-95FA-4A5E-31CC-C3851B52E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6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6F1B25-2FA5-C4F6-09E8-D6F7A8DF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1113B0-02D5-BBE3-31A5-4739616298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CAE10-6B7D-C48F-F3FF-419AD441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3ABDC8-9AAF-4B62-9540-4EA826AA678B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2D582-0634-2511-6F7E-7229EC07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AE7E1-0525-6C8B-2077-B55EFBEA6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2507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A4A3-2E21-E418-73DE-E22247EE41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C87DE1-CAF2-229C-5776-9562B7956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54DD8-14C4-ACB8-D444-27F005A4C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21C3-0F1A-498D-9F2E-D10FACA35B86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BF891-4BCD-EC21-1259-8661D36C8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51AF-D1A2-07A4-0B2A-7E9D6B416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524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CBFB9-B574-3DEB-F162-FE89B3802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94B0E9-24AC-9760-0CBD-E5D0888E3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41205-CA2E-9649-1960-8F17E0E6D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9A7DA-FCDD-43FA-8A0C-6A5B2B391695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02BAD-D0DE-F254-BBD1-2AFE276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87769-B833-24E6-E30B-DCE74558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1927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F5-AE66-5FEF-8EEC-A630C8B29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528CE2-68D8-267B-C297-6117F0736A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5FFB0-0F78-AEB8-5AFB-EC779B961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8D4BE-274D-4073-90F9-6DE45B427D7A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F3BE8E-E2EB-A8B6-21DD-9AB839A58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BE51E-49C9-6B3A-1C46-49212B576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376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3AF32-49A3-7BB1-C7E7-6C5D90D17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51BE1-060E-F420-83BA-C8AE9151C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265B4-44BE-C9BD-56AD-24359969A5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62ECC-3BDB-BEA4-4B7F-1545B0DC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D2526-BF89-47C7-96E6-5B804E43EF11}" type="datetime1">
              <a:rPr lang="en-IN" smtClean="0"/>
              <a:t>14-08-2026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99311-B569-3D99-B257-5CEB03A6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E828AD-34AD-9A23-4FFC-4C32387C9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661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6895-A3B7-F0FB-3CBE-59E564F22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29C285-ECC0-3375-66EF-B240D726B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B153A-9265-EAEC-A55D-2519057330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E62BD6-069B-567C-13A2-AD51A312F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CFDC1-AF24-C301-0A26-DA099D8FF3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CB484-D858-5027-D2CF-125E103D2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27929-B24E-4CA0-A508-395AF785C673}" type="datetime1">
              <a:rPr lang="en-IN" smtClean="0"/>
              <a:t>14-08-2026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CD1DFD-AA21-1102-AD58-F0AB4361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0th REVIEW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8466D-C960-00E9-B91E-E20525158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16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5EEF4A-08C3-1725-4505-63B90332E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0D38A5-B84E-8DCB-3CEA-900D45C85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F078D-01B0-9071-5546-6BFF4A071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A717A7-838C-4809-BC62-F129B310B950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063510-A0D8-83AF-2345-E0A8B79D5D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51A12-6174-66E3-0415-DA607E50CD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61B71F-4B40-8942-BB88-E0F5C0B46E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827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26EC2-0EF8-2F89-DF64-2685FD639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E29FC3-B99D-0056-3798-159705D11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79F1E1-99D3-E959-A91B-BD6DF2599B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DB2A2-8993-4CD1-B936-8FCCA45C385B}" type="datetime1">
              <a:rPr lang="en-IN" smtClean="0"/>
              <a:t>14-08-2026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C7260-A9B7-9847-6D81-8C797C4D5A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0th REVIEW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7894-99B0-6303-77B2-C1C210EE2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6F81-1074-6B40-A92F-A06CCD3B41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84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I50" Type="http://schemas.openxmlformats.org/officeDocument/2006/relationships/image" Target="../media/pres_arch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I52" Type="http://schemas.openxmlformats.org/officeDocument/2006/relationships/image" Target="../media/pres_er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I54" Type="http://schemas.openxmlformats.org/officeDocument/2006/relationships/image" Target="../media/pres_seq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I56" Type="http://schemas.openxmlformats.org/officeDocument/2006/relationships/image" Target="../media/pres_saga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I57" Type="http://schemas.openxmlformats.org/officeDocument/2006/relationships/image" Target="../media/pres_a_dashboard.png"/><Relationship Id="rIdI59" Type="http://schemas.openxmlformats.org/officeDocument/2006/relationships/image" Target="../media/pres_a_discrepancies.png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I61" Type="http://schemas.openxmlformats.org/officeDocument/2006/relationships/image" Target="../media/pres_m_pos_upi.png"/><Relationship Id="rIdI63" Type="http://schemas.openxmlformats.org/officeDocument/2006/relationships/image" Target="../media/pres_m_dashboard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00A09-BF95-A121-71A4-33FFE91A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17" y="606175"/>
            <a:ext cx="10392383" cy="4710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br>
              <a:rPr lang="en-US" sz="2400" b="1" dirty="0">
                <a:cs typeface="Arial" panose="020B0604020202020204" pitchFamily="34" charset="0"/>
              </a:rPr>
            </a:br>
            <a:r>
              <a:rPr lang="en-US" sz="2400" b="1" dirty="0">
                <a:cs typeface="Arial" panose="020B0604020202020204" pitchFamily="34" charset="0"/>
              </a:rPr>
              <a:t>FINAL</a:t>
            </a:r>
            <a:r>
              <a:rPr lang="en-US" sz="2400" b="1" baseline="30000" dirty="0">
                <a:cs typeface="Arial" panose="020B0604020202020204" pitchFamily="34" charset="0"/>
              </a:rPr>
              <a:t/>
            </a:r>
            <a:r>
              <a:rPr lang="en-US" sz="2400" b="1" dirty="0">
                <a:cs typeface="Arial" panose="020B0604020202020204" pitchFamily="34" charset="0"/>
              </a:rPr>
              <a:t> REVIEW</a:t>
            </a:r>
            <a:br>
              <a:rPr lang="en-US" sz="2400" dirty="0">
                <a:latin typeface="+mn-lt"/>
                <a:cs typeface="Arial" panose="020B0604020202020204" pitchFamily="34" charset="0"/>
              </a:rPr>
            </a:br>
            <a:br>
              <a:rPr lang="en-US" sz="2400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  <a:t>Dairy &amp; Milk Cooperative Management System</a:t>
            </a:r>
            <a:br>
              <a:rPr lang="en-US" sz="2400" b="1" dirty="0">
                <a:solidFill>
                  <a:srgbClr val="011893"/>
                </a:solidFill>
                <a:latin typeface="+mn-lt"/>
                <a:cs typeface="Arial" panose="020B0604020202020204" pitchFamily="34" charset="0"/>
              </a:rPr>
            </a:br>
            <a:endParaRPr lang="en-US" sz="2400" b="1" dirty="0">
              <a:solidFill>
                <a:srgbClr val="011893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4CF11E-4EBB-004C-8FD7-152B8D16D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24F28400-FDB5-158C-D317-153E1B1CD072}"/>
              </a:ext>
            </a:extLst>
          </p:cNvPr>
          <p:cNvSpPr txBox="1">
            <a:spLocks/>
          </p:cNvSpPr>
          <p:nvPr/>
        </p:nvSpPr>
        <p:spPr>
          <a:xfrm>
            <a:off x="961417" y="5032000"/>
            <a:ext cx="10506683" cy="138075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endParaRPr lang="en-US" sz="1800" b="1" dirty="0">
              <a:solidFill>
                <a:srgbClr val="C0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rgbClr val="C00000"/>
                </a:solidFill>
              </a:rPr>
              <a:t>KONERU LAKSHMAIAH EDUCATION FOUNDATION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68465D1-CCC3-285A-3E29-8B23DC764FF6}"/>
              </a:ext>
            </a:extLst>
          </p:cNvPr>
          <p:cNvSpPr txBox="1">
            <a:spLocks/>
          </p:cNvSpPr>
          <p:nvPr/>
        </p:nvSpPr>
        <p:spPr>
          <a:xfrm>
            <a:off x="952500" y="3143780"/>
            <a:ext cx="10515600" cy="180629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dirty="0"/>
              <a:t>Under the Guidance </a:t>
            </a:r>
          </a:p>
          <a:p>
            <a:pPr marL="0" indent="0" algn="ctr">
              <a:buNone/>
            </a:pPr>
            <a:r>
              <a:rPr lang="en-US" sz="2400" dirty="0"/>
              <a:t>of </a:t>
            </a:r>
            <a:endParaRPr lang="en-US" sz="2400" dirty="0">
              <a:solidFill>
                <a:srgbClr val="00B050"/>
              </a:solidFill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B050"/>
                </a:solidFill>
              </a:rPr>
              <a:t>Dr. Y Prasanthi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Assistant Professor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dirty="0">
                <a:solidFill>
                  <a:srgbClr val="00B050"/>
                </a:solidFill>
              </a:rPr>
              <a:t>Department of Computer Science and Engineering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400" dirty="0">
              <a:solidFill>
                <a:srgbClr val="00B05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9864F2-F4A5-DC53-C4B3-F9C0A49E4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/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3C41FE-7D1F-E7DF-F0EB-DE18D3955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6040" y="4860024"/>
            <a:ext cx="2618924" cy="1243012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5C1A452-4633-BB68-A150-FAF552C36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237127"/>
              </p:ext>
            </p:extLst>
          </p:nvPr>
        </p:nvGraphicFramePr>
        <p:xfrm>
          <a:off x="2032000" y="1680962"/>
          <a:ext cx="81280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64949112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83695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t>T.Jaswanth Reddy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2520030284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518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dirty="0" err="1"/>
                        <a:t>S.Prem Sai</a:t>
                      </a:r>
                      <a:r>
                        <a:rPr dirty="0"/>
                        <a:t> </a:t>
                      </a:r>
                      <a:r>
                        <a:rPr lang="en-IN" dirty="0"/>
                        <a:t/>
                      </a:r>
                      <a:r>
                        <a:rPr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2520030561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438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t>V.Nitish Chowdhary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2520030179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1834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54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F0159-92E9-5749-2215-8FA86E40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4484" y="374681"/>
            <a:ext cx="9343030" cy="72669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</a:rPr>
              <a:t>GROUP NUMBER:6</a:t>
            </a:r>
            <a:endParaRPr lang="en-IN" sz="3200" b="1" dirty="0">
              <a:solidFill>
                <a:srgbClr val="0070C0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BEE83-A330-74AD-884C-C19F63D46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8CDC1-D8FB-8D4B-F57A-06B2C414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2</a:t>
            </a:fld>
            <a:endParaRPr lang="en-US"/>
          </a:p>
        </p:txBody>
      </p:sp>
      <p:graphicFrame>
        <p:nvGraphicFramePr>
          <p:cNvPr id="7" name="Table 10">
            <a:extLst>
              <a:ext uri="{FF2B5EF4-FFF2-40B4-BE49-F238E27FC236}">
                <a16:creationId xmlns:a16="http://schemas.microsoft.com/office/drawing/2014/main" id="{BD94FEB8-52D1-2D12-5891-6583D8FD44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0793399"/>
              </p:ext>
            </p:extLst>
          </p:nvPr>
        </p:nvGraphicFramePr>
        <p:xfrm>
          <a:off x="838199" y="1416193"/>
          <a:ext cx="10515600" cy="231820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4656383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75382372"/>
                    </a:ext>
                  </a:extLst>
                </a:gridCol>
              </a:tblGrid>
              <a:tr h="4184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of Candidate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7162894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t>T.Jaswanth Reddy (2520030284)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Team Lead / Backend (Node.js, Express, MySQL)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1584153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t>S.Prem Sai (2520030561)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Frontend Development (React.js) &amp; UI/UX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687620"/>
                  </a:ext>
                </a:extLst>
              </a:tr>
              <a:tr h="629841">
                <a:tc>
                  <a:txBody>
                    <a:bodyPr/>
                    <a:lstStyle/>
                    <a:p>
                      <a:r>
                        <a:t>V.Nitish Chowdhary (2520030179)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Database Design &amp; Payment Integration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92412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393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ABSTRACT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400" dirty="0"/>
              <a:t>Dairy cooperative outlets still record stock, sales and payments in paper registers, so shortages and unpaid sales are found late or never.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The </a:t>
            </a:r>
            <a:r>
              <a:rPr lang="en-US" sz="2400" b="1" dirty="0"/>
              <a:t>Dairy &amp; Milk Cooperative Management System</a:t>
            </a:r>
            <a:r>
              <a:rPr lang="en-US" sz="2400" dirty="0"/>
              <a:t> is a web platform for cooperative admins and outlet merchants to manage products, stock, point-of-sale billing, cash and UPI payments, and invoices.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Every sale runs as a saga: stock is reserved with row locks, payment is verified, and the invoice, sale, items and payment are saved in one ACID transaction.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SQL views compare stock received, sold and available, and amounts billed versus collected, to flag discrepancies automatically.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Built with React (Vite), seven Node.js/Express microservices behind an API gateway, and MySQL.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BAA4F36-AB00-F2C4-B47F-6381355DE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780"/>
            <a:ext cx="10515600" cy="543618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endParaRPr lang="en-IN" sz="4400" dirty="0"/>
          </a:p>
          <a:p>
            <a:pPr marL="0" indent="0" algn="ctr">
              <a:buNone/>
            </a:pPr>
            <a:r>
              <a:rPr lang="en-IN" sz="4400" b="1" dirty="0">
                <a:solidFill>
                  <a:srgbClr val="0070C0"/>
                </a:solidFill>
              </a:rPr>
              <a:t>THANK YOU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7BAA-7E22-F268-D9DC-5E17D915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58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INTRODUCTION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400" dirty="0"/>
              <a:t>A dairy cooperative supplies milk, curd, paneer, ghee and buttermilk to small outlets run by merchants.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Each merchant receives stock, sells it across a morning or evening shift and settles the money with the cooperative.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UPI and low-cost web technology now make it practical for even small outlets to bill and collect digitally.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Our project digitises this merchant side of the cooperative and keeps stock, sales and payments consistent with each other.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Developed for the course Database Systems Engineering and Distributed Backend Development (25CS1302E).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EXISTING SYSTEM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400" dirty="0"/>
              <a:t>Incoming stock is written in registers or spreadsheets, updated irregularly.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Bills are handwritten or skipped; multi-item totals are calculated by hand.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Cash and UPI receipts are not linked to individual sales.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Revenue is known only after an end-of-day or end-of-week tally.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No automatic check between stock received, stock sold and money collected, so leakage goes unnoticed.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PROBLEM STATEMENT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400" dirty="0"/>
              <a:t>Stock on the shelf cannot be compared with what should be there.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A sale that was never paid for looks the same as one that was.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Two quick sales of the last unit can oversell stock.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Management has no live view of revenue or anomalies across outlets.</a:t>
            </a:r>
          </a:p>
          <a:p>
            <a:pPr lvl="0">
              <a:spcBef>
                <a:spcPts val="900"/>
              </a:spcBef>
            </a:pPr>
            <a:r>
              <a:rPr lang="en-US" sz="2400" b="1" dirty="0"/>
              <a:t>Problem:</a:t>
            </a:r>
            <a:r>
              <a:rPr lang="en-US" sz="2400" dirty="0"/>
              <a:t> design a database-backed, multi-user web system that records every stock entry, sale and payment consistently and detects stock and payment discrepancies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PROPOSED SOLUTION (CONTRIBUTION)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200" dirty="0"/>
              <a:t>Role-based web app for </a:t>
            </a:r>
            <a:r>
              <a:rPr lang="en-US" sz="2200" b="1" dirty="0"/>
              <a:t>Admin / Owner</a:t>
            </a:r>
            <a:r>
              <a:rPr lang="en-US" sz="2200" dirty="0"/>
              <a:t> and </a:t>
            </a:r>
            <a:r>
              <a:rPr lang="en-US" sz="2200" b="1" dirty="0"/>
              <a:t>Merchant</a:t>
            </a:r>
            <a:r>
              <a:rPr lang="en-US" sz="2200" dirty="0"/>
              <a:t> users with JWT login.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Multi-item POS with prices always taken from the server, never from the browser.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Cash and </a:t>
            </a:r>
            <a:r>
              <a:rPr lang="en-US" sz="2200" b="1" dirty="0"/>
              <a:t>Cashfree UPI</a:t>
            </a:r>
            <a:r>
              <a:rPr lang="en-US" sz="2200" dirty="0"/>
              <a:t> payments, each payment linked to its sale.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Stock reserved under </a:t>
            </a:r>
            <a:r>
              <a:rPr lang="en-US" sz="2200" b="1" dirty="0"/>
              <a:t>SELECT … FOR UPDATE</a:t>
            </a:r>
            <a:r>
              <a:rPr lang="en-US" sz="2200" dirty="0"/>
              <a:t> with a 5-minute expiry, so overselling is not possible.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Invoice, sale, line items and payment saved in </a:t>
            </a:r>
            <a:r>
              <a:rPr lang="en-US" sz="2200" b="1" dirty="0"/>
              <a:t>one ACID transaction</a:t>
            </a:r>
            <a:r>
              <a:rPr lang="en-US" sz="2200" dirty="0"/>
              <a:t>; failures are compensated (stock released, payment refunded).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SQL views flag </a:t>
            </a:r>
            <a:r>
              <a:rPr lang="en-US" sz="2200" b="1" dirty="0"/>
              <a:t>stock</a:t>
            </a:r>
            <a:r>
              <a:rPr lang="en-US" sz="2200" dirty="0"/>
              <a:t> and </a:t>
            </a:r>
            <a:r>
              <a:rPr lang="en-US" sz="2200" b="1" dirty="0"/>
              <a:t>payment</a:t>
            </a:r>
            <a:r>
              <a:rPr lang="en-US" sz="2200" dirty="0"/>
              <a:t> discrepancies on the admin dashboard.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OBJECTIVES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200" dirty="0"/>
              <a:t>Design a normalised MySQL schema with keys and integrity constraints.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Record multi-item sales atomically.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Prevent overselling with row-level locking and reservations.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Accept cash and UPI payments with server-side pricing.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Detect stock and payment discrepancies automatically using SQL views.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Provide role-based dashboards with live revenue and stock.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Structure the backend as microservices behind an API gateway (Saga pattern).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MODULES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200" b="1" dirty="0"/>
              <a:t>Authentication</a:t>
            </a:r>
            <a:r>
              <a:rPr lang="en-US" sz="2200" dirty="0"/>
              <a:t> – login with email or merchant code, JWT, role-based access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Merchant Management</a:t>
            </a:r>
            <a:r>
              <a:rPr lang="en-US" sz="2200" dirty="0"/>
              <a:t> – shops, shifts, activate / deactivate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Products &amp; Quality</a:t>
            </a:r>
            <a:r>
              <a:rPr lang="en-US" sz="2200" dirty="0"/>
              <a:t> – catalogue, official prices, fat %, SNF %, grade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Stock &amp; Inventory</a:t>
            </a:r>
            <a:r>
              <a:rPr lang="en-US" sz="2200" dirty="0"/>
              <a:t> – stock inflow, available quantity, reservations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Point of Sale</a:t>
            </a:r>
            <a:r>
              <a:rPr lang="en-US" sz="2200" dirty="0"/>
              <a:t> – multi-item billing, tax, discount, invoice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Payments</a:t>
            </a:r>
            <a:r>
              <a:rPr lang="en-US" sz="2200" dirty="0"/>
              <a:t> – cash, Cashfree UPI order / verify / refund, ledger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Reporting</a:t>
            </a:r>
            <a:r>
              <a:rPr lang="en-US" sz="2200" dirty="0"/>
              <a:t> – executive dashboard, revenue, stock and payment discrepancies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Recovery</a:t>
            </a:r>
            <a:r>
              <a:rPr lang="en-US" sz="2200" dirty="0"/>
              <a:t> – resumes or compensates interrupted sales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SYSTEM ARCHITECTURE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50" name="Picture 50" descr="React frontend → API Gateway (:4000) → 7 microservices → MySQL; Cashfree for UPI"/>
          <p:cNvPicPr>
            <a:picLocks noChangeAspect="1"/>
          </p:cNvPicPr>
          <p:nvPr/>
        </p:nvPicPr>
        <p:blipFill>
          <a:blip r:embed="rIdI50"/>
          <a:stretch>
            <a:fillRect/>
          </a:stretch>
        </p:blipFill>
        <p:spPr>
          <a:xfrm>
            <a:off x="972921" y="1417320"/>
            <a:ext cx="10215676" cy="4800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1" name="Caption 51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React frontend → API Gateway (:4000) → 7 microservices → MySQL; Cashfree for UPI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ER DIAGRAM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52" name="Picture 52" descr="10 core tables of dairy_merchant_db with primary keys, foreign keys and cardinalities"/>
          <p:cNvPicPr>
            <a:picLocks noChangeAspect="1"/>
          </p:cNvPicPr>
          <p:nvPr/>
        </p:nvPicPr>
        <p:blipFill>
          <a:blip r:embed="rIdI52"/>
          <a:stretch>
            <a:fillRect/>
          </a:stretch>
        </p:blipFill>
        <p:spPr>
          <a:xfrm>
            <a:off x="640080" y="1531620"/>
            <a:ext cx="10881360" cy="45720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3" name="Caption 53"/>
          <p:cNvSpPr txBox="1"/>
          <p:nvPr/>
        </p:nvSpPr>
        <p:spPr>
          <a:xfrm>
            <a:off x="640080" y="614934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10 core tables of dairy_merchant_db with primary keys, foreign keys and cardinalities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DATABASE DESIGN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200" dirty="0"/>
              <a:t>Normalised to </a:t>
            </a:r>
            <a:r>
              <a:rPr lang="en-US" sz="2200" b="1" dirty="0"/>
              <a:t>3NF</a:t>
            </a:r>
            <a:r>
              <a:rPr lang="en-US" sz="2200" dirty="0"/>
              <a:t>: product and merchant details stored once and referenced by key.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Constraints: PRIMARY / FOREIGN KEY, UNIQUE (email, merchant code, invoice no., merchant–product), CHECK (quantity &gt; 0, amount ≥ 0), ENUM statuses.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Indexes on sales(merchant_id, sale_date), stock_entries(merchant_id, product_id), sale_items(product_id), payments(payment_status).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Views: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vw_stock_discrepancy – (incoming − sold) − actual stock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vw_payment_discrepancy – billed − successful payments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vw_merchant_revenue – sales and revenue per merchant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Supporting tables for the saga: saga_instances, inventory_reservations.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SALE WORKFLOW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54" name="Picture 54" descr="Service calls for one successful sale"/>
          <p:cNvPicPr>
            <a:picLocks noChangeAspect="1"/>
          </p:cNvPicPr>
          <p:nvPr/>
        </p:nvPicPr>
        <p:blipFill>
          <a:blip r:embed="rIdI54"/>
          <a:stretch>
            <a:fillRect/>
          </a:stretch>
        </p:blipFill>
        <p:spPr>
          <a:xfrm>
            <a:off x="2937510" y="1417320"/>
            <a:ext cx="6286500" cy="480060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5" name="Caption 55"/>
          <p:cNvSpPr txBox="1"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Service calls for one successful sale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SAGA – CONSISTENCY ACROSS SERVICES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56" name="Picture 56" descr="saga.png"/>
          <p:cNvPicPr>
            <a:picLocks noChangeAspect="1"/>
          </p:cNvPicPr>
          <p:nvPr/>
        </p:nvPicPr>
        <p:blipFill>
          <a:blip r:embed="rIdI56"/>
          <a:stretch>
            <a:fillRect/>
          </a:stretch>
        </p:blipFill>
        <p:spPr>
          <a:xfrm>
            <a:off x="1410788" y="1371600"/>
            <a:ext cx="9339942" cy="35661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90" name="Notes Text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/>
          <a:lstStyle/>
          <a:p>
            <a:pPr marL="285750" indent="-285750">
              <a:buFont typeface="Arial"/>
              <a:buChar char="•"/>
              <a:spcBef>
                <a:spcPts val="900"/>
              </a:spcBef>
            </a:pPr>
            <a:r>
              <a:rPr lang="en-US" sz="1700" dirty="0"/>
              <a:t>Each step is a local transaction; a failure triggers compensation: release reserved stock, refund UPI payment.</a:t>
            </a:r>
          </a:p>
          <a:p>
            <a:pPr marL="285750" indent="-285750">
              <a:buFont typeface="Arial"/>
              <a:buChar char="•"/>
              <a:spcBef>
                <a:spcPts val="900"/>
              </a:spcBef>
            </a:pPr>
            <a:r>
              <a:rPr lang="en-US" sz="1700" dirty="0"/>
              <a:t>A recovery job every 30 s completes or compensates interrupted sales; payments without a sale are listed as orphans.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SOFTWARE REQUIREMENTS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200" b="1" dirty="0"/>
              <a:t>Frontend:</a:t>
            </a:r>
            <a:r>
              <a:rPr lang="en-US" sz="2200" dirty="0"/>
              <a:t> React 18, Vite 5, React Router, Axios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Backend:</a:t>
            </a:r>
            <a:r>
              <a:rPr lang="en-US" sz="2200" dirty="0"/>
              <a:t> Node.js, Express.js – 7 microservices + API Gateway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Database:</a:t>
            </a:r>
            <a:r>
              <a:rPr lang="en-US" sz="2200" dirty="0"/>
              <a:t> MySQL 8.0 (InnoDB)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Authentication:</a:t>
            </a:r>
            <a:r>
              <a:rPr lang="en-US" sz="2200" dirty="0"/>
              <a:t> JWT, bcrypt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Payments:</a:t>
            </a:r>
            <a:r>
              <a:rPr lang="en-US" sz="2200" dirty="0"/>
              <a:t> Cashfree Payment Gateway (sandbox)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Tools:</a:t>
            </a:r>
            <a:r>
              <a:rPr lang="en-US" sz="2200" dirty="0"/>
              <a:t> VS Code, Git &amp; GitHub, Postman, MySQL Workbench, Draw.io</a:t>
            </a:r>
          </a:p>
          <a:p>
            <a:pPr lvl="0">
              <a:spcBef>
                <a:spcPts val="900"/>
              </a:spcBef>
            </a:pPr>
            <a:r>
              <a:rPr lang="en-US" sz="2200" b="1" dirty="0"/>
              <a:t>Hardware:</a:t>
            </a:r>
            <a:r>
              <a:rPr lang="en-US" sz="2200" dirty="0"/>
              <a:t> dual-core CPU, 4 GB RAM (8 GB recommended), any modern browser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IMPLEMENTATION – ADMIN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57" name="Picture 57" descr="Executive overview with fraud flags"/>
          <p:cNvPicPr>
            <a:picLocks noChangeAspect="1"/>
          </p:cNvPicPr>
          <p:nvPr/>
        </p:nvPicPr>
        <p:blipFill>
          <a:blip r:embed="rIdI57"/>
          <a:stretch>
            <a:fillRect/>
          </a:stretch>
        </p:blipFill>
        <p:spPr>
          <a:xfrm>
            <a:off x="457200" y="1723072"/>
            <a:ext cx="5486400" cy="368617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58" name="Caption 58"/>
          <p:cNvSpPr txBox="1"/>
          <p:nvPr/>
        </p:nvSpPr>
        <p:spPr>
          <a:xfrm>
            <a:off x="457200" y="5454967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Executive overview with fraud flags</a:t>
            </a:r>
          </a:p>
        </p:txBody>
      </p:sp>
      <p:pic>
        <p:nvPicPr>
          <p:cNvPr id="59" name="Picture 59" descr="Stock and payment discrepancy report"/>
          <p:cNvPicPr>
            <a:picLocks noChangeAspect="1"/>
          </p:cNvPicPr>
          <p:nvPr/>
        </p:nvPicPr>
        <p:blipFill>
          <a:blip r:embed="rIdI59"/>
          <a:stretch>
            <a:fillRect/>
          </a:stretch>
        </p:blipFill>
        <p:spPr>
          <a:xfrm>
            <a:off x="6263640" y="1723072"/>
            <a:ext cx="5486400" cy="368617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0" name="Caption 60"/>
          <p:cNvSpPr txBox="1"/>
          <p:nvPr/>
        </p:nvSpPr>
        <p:spPr>
          <a:xfrm>
            <a:off x="6263640" y="5454967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Stock and payment discrepancy report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IMPLEMENTATION – MERCHANT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pic>
        <p:nvPicPr>
          <p:cNvPr id="61" name="Picture 61" descr="Point of sale with Cashfree UPI"/>
          <p:cNvPicPr>
            <a:picLocks noChangeAspect="1"/>
          </p:cNvPicPr>
          <p:nvPr/>
        </p:nvPicPr>
        <p:blipFill>
          <a:blip r:embed="rIdI61"/>
          <a:stretch>
            <a:fillRect/>
          </a:stretch>
        </p:blipFill>
        <p:spPr>
          <a:xfrm>
            <a:off x="859536" y="1554480"/>
            <a:ext cx="4681728" cy="4023360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2" name="Caption 62"/>
          <p:cNvSpPr txBox="1"/>
          <p:nvPr/>
        </p:nvSpPr>
        <p:spPr>
          <a:xfrm>
            <a:off x="457200" y="56235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Point of sale with Cashfree UPI</a:t>
            </a:r>
          </a:p>
        </p:txBody>
      </p:sp>
      <p:pic>
        <p:nvPicPr>
          <p:cNvPr id="63" name="Picture 63" descr="Merchant shop overview"/>
          <p:cNvPicPr>
            <a:picLocks noChangeAspect="1"/>
          </p:cNvPicPr>
          <p:nvPr/>
        </p:nvPicPr>
        <p:blipFill>
          <a:blip r:embed="rIdI63"/>
          <a:stretch>
            <a:fillRect/>
          </a:stretch>
        </p:blipFill>
        <p:spPr>
          <a:xfrm>
            <a:off x="6263640" y="1723072"/>
            <a:ext cx="5486400" cy="3686175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64" name="Caption 64"/>
          <p:cNvSpPr txBox="1"/>
          <p:nvPr/>
        </p:nvSpPr>
        <p:spPr>
          <a:xfrm>
            <a:off x="6263640" y="5454967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ctr"/>
            <a:r>
              <a:rPr lang="en-US" sz="1400" dirty="0">
                <a:solidFill>
                  <a:srgbClr val="404040"/>
                </a:solidFill>
              </a:rPr>
              <a:t>Merchant shop overview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RESULTS &amp; TESTING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400" dirty="0"/>
              <a:t>Working application with 13 screens for admins and merchants.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Overselling blocked: a sale larger than available stock is rejected and nothing is saved.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Prices edited in the browser are ignored; the server bills at catalogue price.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Seed data correctly flags a ₹700 payment shortfall and a 10-unit stock shortfall.</a:t>
            </a:r>
          </a:p>
          <a:p>
            <a:pPr lvl="0">
              <a:spcBef>
                <a:spcPts val="900"/>
              </a:spcBef>
            </a:pPr>
            <a:r>
              <a:rPr lang="en-US" sz="2400" dirty="0"/>
              <a:t>Integration test suites cover saga recovery and compensation, reporting, gateway cutover, and service failure and restart.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CONCLUSION AND FUTURE SCOPE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200" dirty="0"/>
              <a:t>The system gives a cooperative one platform for stock, billing, payments and invoices across outlets.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Transactions, row locks and the Saga pattern keep stock, sales and payments consistent.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SQL views replace manual reconciliation with automatic discrepancy flags.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Future Scope: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Farmer milk collection with Fat/SNF-based rates and payment statements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Email / SMS alerts for low stock and flagged discrepancies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Docker deployment, CI/CD pipeline and production Cashfree keys</a:t>
            </a:r>
          </a:p>
          <a:p>
            <a:pPr lvl="1">
              <a:spcBef>
                <a:spcPts val="300"/>
              </a:spcBef>
            </a:pPr>
            <a:r>
              <a:rPr lang="en-US" sz="2000" dirty="0"/>
              <a:t>Mobile app for merchants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C21A4-4335-3E69-90C0-3A67A34B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32EA0-1B53-65AA-CA98-61C6349CC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solidFill>
                  <a:srgbClr val="0070C0"/>
                </a:solidFill>
              </a:rPr>
              <a:t>REFERENCES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8674-D9B3-10B6-5D9C-41DD53040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CCDEA6-9764-F9AA-B69B-6D32503B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61B71F-4B40-8942-BB88-E0F5C0B46E10}" type="slidenum">
              <a:rPr lang="en-US" smtClean="0"/>
              <a:t>3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63587-658B-D9DC-0DC8-293DA4D3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>
              <a:spcBef>
                <a:spcPts val="900"/>
              </a:spcBef>
            </a:pPr>
            <a:r>
              <a:rPr lang="en-US" sz="2200" dirty="0"/>
              <a:t>A. Silberschatz, H. F. Korth, S. Sudarshan, Database System Concepts, 7th ed., McGraw-Hill, 2019.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R. Elmasri, S. B. Navathe, Fundamentals of Database Systems, 7th ed., Pearson, 2016.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H. Garcia-Molina, K. Salem, “Sagas,” Proc. ACM SIGMOD, 1987.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C. Richardson, Microservices Patterns, Manning, 2018.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MySQL 8.0 Reference Manual – dev.mysql.com/doc</a:t>
            </a:r>
          </a:p>
          <a:p>
            <a:pPr lvl="0">
              <a:spcBef>
                <a:spcPts val="900"/>
              </a:spcBef>
            </a:pPr>
            <a:r>
              <a:rPr lang="en-US" sz="2200" dirty="0"/>
              <a:t>React, Express.js and Cashfree developer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206421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8237</TotalTime>
  <Words>862</Words>
  <Application>Microsoft Office PowerPoint</Application>
  <PresentationFormat>Widescreen</PresentationFormat>
  <Paragraphs>119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Custom Design</vt:lpstr>
      <vt:lpstr> 1st  REVIEW  Dairy &amp; Milk Cooperative Management System— Online Collection, Inventory &amp; Revenue System </vt:lpstr>
      <vt:lpstr>GROUP NUMBER:6</vt:lpstr>
      <vt:lpstr>ABSTRACT</vt:lpstr>
      <vt:lpstr>INTRODUCTION</vt:lpstr>
      <vt:lpstr>EXISTING SYSTEM</vt:lpstr>
      <vt:lpstr>PROBLEM</vt:lpstr>
      <vt:lpstr>SOLUTION(Contribution)</vt:lpstr>
      <vt:lpstr>Objectives </vt:lpstr>
      <vt:lpstr>Modules</vt:lpstr>
      <vt:lpstr>SOFTWARE REQUIREMENTS 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SHAHANA BANO</dc:creator>
  <cp:lastModifiedBy>Prem Sai Surisetty</cp:lastModifiedBy>
  <cp:revision>95</cp:revision>
  <dcterms:created xsi:type="dcterms:W3CDTF">2022-05-20T10:20:31Z</dcterms:created>
  <dcterms:modified xsi:type="dcterms:W3CDTF">2026-08-14T04:00:57Z</dcterms:modified>
</cp:coreProperties>
</file>